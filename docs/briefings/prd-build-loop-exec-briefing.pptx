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69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39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508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678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847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017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186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356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525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7864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034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0203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373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2542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18712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76169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52339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508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04678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80847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57017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33186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09356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5525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CURSOR AGENT SKILLS  /  SOFTWARE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828800"/>
            <a:ext cx="7315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2B2B2B"/>
                </a:solidFill>
                <a:latin typeface="Arial"/>
              </a:rPr>
              <a:t>把 AI 编码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606040"/>
            <a:ext cx="8229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2B2B2B"/>
                </a:solidFill>
                <a:latin typeface="Arial"/>
              </a:rPr>
              <a:t>变成可管控的交付系统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703320"/>
            <a:ext cx="105156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77639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prd-build-loop-skills 实战思路汇报
从模块化 PRD → 挑战定稿 → 自动拆任务 → 循环实现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1737360"/>
            <a:ext cx="3200400" cy="38404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19659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SIGNAL 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33172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600" b="1">
                <a:solidFill>
                  <a:srgbClr val="2F6B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06324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B2B2B"/>
                </a:solidFill>
                <a:latin typeface="Arial"/>
              </a:rPr>
              <a:t>核心 Skills 协作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49640" y="3520440"/>
            <a:ext cx="2743200" cy="127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370332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B2B2B"/>
                </a:solidFill>
                <a:latin typeface="Arial"/>
              </a:rPr>
              <a:t>1 条主流程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40233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挑战 → 计划 → 实现 → 验收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4526280"/>
            <a:ext cx="2743200" cy="127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470916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B2B2B"/>
                </a:solidFill>
                <a:latin typeface="Arial"/>
              </a:rPr>
              <a:t>面向领导的价值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502920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可控、可续跑、可追责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6172200"/>
            <a:ext cx="502920" cy="25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5806440"/>
            <a:ext cx="254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02975" y="685800"/>
            <a:ext cx="502920" cy="25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505895" y="685800"/>
            <a:ext cx="254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INTERNAL BRIEFING  ·  #FFFFFF / #2F6BFF / #2B2B2B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01  / 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9144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2B2B2B"/>
                </a:solidFill>
                <a:latin typeface="Arial"/>
              </a:rPr>
              <a:t>今天汇报什么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82296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F6B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为什么做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AI 写代码容易快，但交付不可控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2697480"/>
            <a:ext cx="9601200" cy="127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F6BF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7180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总体思路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7180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先挑战 PRD，再自动化实现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3474720"/>
            <a:ext cx="9601200" cy="127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4904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F6BF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490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能力拼图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4904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5 个 Skills 如何分工协作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4251960"/>
            <a:ext cx="9601200" cy="127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2628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F6BFF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2628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实战怎么跑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52628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项目里的具体操作路径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5029200"/>
            <a:ext cx="9601200" cy="127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30352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F6BFF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035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管控与路线图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30352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风险、收益、请领导拍板事项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PRD BUILD LOOP  ·  EXEC BRIEFING  ·  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02  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B2B2B"/>
                </a:solidFill>
                <a:latin typeface="Arial"/>
              </a:rPr>
              <a:t>现状：AI 能写，但不等于项目能交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65960"/>
            <a:ext cx="82296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77440"/>
            <a:ext cx="5212080" cy="1463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B2B2B"/>
                </a:solidFill>
                <a:latin typeface="Arial"/>
              </a:rPr>
              <a:t>需求未推敲就开写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PRD 有洞，Agent 仍会自信地交付错误功能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2377440"/>
            <a:ext cx="5212080" cy="1463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B2B2B"/>
                </a:solidFill>
                <a:latin typeface="Arial"/>
              </a:rPr>
              <a:t>上下文越写越脏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10896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一次做太多任务，质量与可追溯性迅速下降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114800"/>
            <a:ext cx="5212080" cy="1463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B2B2B"/>
                </a:solidFill>
                <a:latin typeface="Arial"/>
              </a:rPr>
              <a:t>无明确完成定义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勾完任务 ≠ 可上线；缺模块验收与回归门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114800"/>
            <a:ext cx="5212080" cy="14630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3891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B2B2B"/>
                </a:solidFill>
                <a:latin typeface="Arial"/>
              </a:rPr>
              <a:t>人被困在循环里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846320"/>
            <a:ext cx="4663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要么全程盯盘，要么完全失控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PRD BUILD LOOP  ·  EXEC BRIEFING  ·  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69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39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508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678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847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017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186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356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525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7864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034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0203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373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2542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18712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76169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52339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508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04678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80847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57017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33186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09356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5525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03  /  CORE 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82880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B2B2B"/>
                </a:solidFill>
                <a:latin typeface="Arial"/>
              </a:rPr>
              <a:t>不是让 AI 更快写代码，
而是用 Skills 把交付做成可编排系统。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114800"/>
            <a:ext cx="105156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3484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</a:rPr>
              <a:t>领导关注的三件事：方向对不对、进度可控否、出问题能不能及时停下并复盘。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PRD BUILD LOOP  ·  EXEC BRIEFING  ·  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04  /  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B2B2B"/>
                </a:solidFill>
                <a:latin typeface="Arial"/>
              </a:rPr>
              <a:t>主流程：挑战 → 计划 → 循环实现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82296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86000"/>
            <a:ext cx="1965960" cy="29260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F6B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645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PRD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645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</a:rPr>
              <a:t>模块化需求
定稿原料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19" y="338328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6BFF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286000"/>
            <a:ext cx="1965960" cy="29260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4688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F6B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926080"/>
            <a:ext cx="1645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F6BFF"/>
                </a:solidFill>
                <a:latin typeface="Arial"/>
              </a:rPr>
              <a:t>GRILL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657600"/>
            <a:ext cx="1645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</a:rPr>
              <a:t>挑战决策树
签核过门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38328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6BFF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286000"/>
            <a:ext cx="1965960" cy="29260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4688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F6BF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926080"/>
            <a:ext cx="1645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657600"/>
            <a:ext cx="1645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</a:rPr>
              <a:t>竖切任务图
active-plan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39" y="338328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6BFF"/>
                </a:solidFill>
                <a:latin typeface="Ar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286000"/>
            <a:ext cx="1965960" cy="29260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24688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F6BFF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926080"/>
            <a:ext cx="1645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657600"/>
            <a:ext cx="1645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</a:rPr>
              <a:t>单任务 TDD
可续跑循环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9" y="3383280"/>
            <a:ext cx="320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6BFF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64040" y="2286000"/>
            <a:ext cx="1965960" cy="29260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246888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F6BFF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926080"/>
            <a:ext cx="1645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657600"/>
            <a:ext cx="1645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</a:rPr>
              <a:t>模块/发布
分层验收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PRD BUILD LOOP  ·  EXEC BRIEFING  ·  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05  /  CAPABILITY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058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2B2B2B"/>
                </a:solidFill>
                <a:latin typeface="Arial"/>
              </a:rPr>
              <a:t>Skills 分工：谁负责“想清楚”，谁负责“做出来”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82296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6BFF"/>
                </a:solidFill>
                <a:latin typeface="Arial"/>
              </a:rPr>
              <a:t>prd-grill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05740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B2B"/>
                </a:solidFill>
                <a:latin typeface="Arial"/>
              </a:rPr>
              <a:t>挑战门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05740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</a:rPr>
              <a:t>参考 grill-me，逐问压测 PRD，输出签核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06040"/>
            <a:ext cx="10789920" cy="127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F6BFF"/>
                </a:solidFill>
                <a:latin typeface="Arial"/>
              </a:rPr>
              <a:t>prd-build-loop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83464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B2B"/>
                </a:solidFill>
                <a:latin typeface="Arial"/>
              </a:rPr>
              <a:t>主编排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83464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</a:rPr>
              <a:t>过门后拆计划，驱动整条实现环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383280"/>
            <a:ext cx="10789920" cy="127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B2B"/>
                </a:solidFill>
                <a:latin typeface="Arial"/>
              </a:rPr>
              <a:t>ralph-init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61188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B2B"/>
                </a:solidFill>
                <a:latin typeface="Arial"/>
              </a:rPr>
              <a:t>脚手架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61188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</a:rPr>
              <a:t>specs / prompts / 安全签核一次性建好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10789920" cy="127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B2B"/>
                </a:solidFill>
                <a:latin typeface="Arial"/>
              </a:rPr>
              <a:t>ralph-implement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38912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B2B"/>
                </a:solidFill>
                <a:latin typeface="Arial"/>
              </a:rPr>
              <a:t>单次执行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38912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</a:rPr>
              <a:t>只做一个 checkbox + TDD + 提交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937760"/>
            <a:ext cx="10789920" cy="127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66360"/>
            <a:ext cx="2926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B2B"/>
                </a:solidFill>
                <a:latin typeface="Arial"/>
              </a:rPr>
              <a:t>ralph-loop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5166360"/>
            <a:ext cx="2011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B2B2B"/>
                </a:solidFill>
                <a:latin typeface="Arial"/>
              </a:rPr>
              <a:t>外层续跑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16636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</a:rPr>
              <a:t>会话预算、停止信号、半自动推进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PRD BUILD LOOP  ·  EXEC BRIEFING  ·  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06  / 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058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B2B2B"/>
                </a:solidFill>
                <a:latin typeface="Arial"/>
              </a:rPr>
              <a:t>三个让领导放心的管控点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82296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3474720" cy="32918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F6BFF"/>
                </a:solidFill>
                <a:latin typeface="Arial"/>
              </a:rPr>
              <a:t>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926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B2B2B"/>
                </a:solidFill>
                <a:latin typeface="Arial"/>
              </a:rPr>
              <a:t>没过挑战不让写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23360"/>
            <a:ext cx="2926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docs/prd/grill-signoff.md
必须 status: approved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194560"/>
            <a:ext cx="3474720" cy="32918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F6BFF"/>
                </a:solidFill>
                <a:latin typeface="Arial"/>
              </a:rPr>
              <a:t>ATOMIC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71800"/>
            <a:ext cx="2926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B2B2B"/>
                </a:solidFill>
                <a:latin typeface="Arial"/>
              </a:rPr>
              <a:t>一次只做一个任务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023360"/>
            <a:ext cx="2926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单任务 + TDD
失败 3 次停下留痕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194560"/>
            <a:ext cx="3474720" cy="32918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46888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F6BFF"/>
                </a:solidFill>
                <a:latin typeface="Arial"/>
              </a:rPr>
              <a:t>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971800"/>
            <a:ext cx="29260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B2B2B"/>
                </a:solidFill>
                <a:latin typeface="Arial"/>
              </a:rPr>
              <a:t>人在环上不在环里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023360"/>
            <a:ext cx="2926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每会话最多 5 任务
handoff 续跑 / .ralph-stop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PRD BUILD LOOP  ·  EXEC BRIEFING  ·  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07  /  FIELD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058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2B2B2B"/>
                </a:solidFill>
                <a:latin typeface="Arial"/>
              </a:rPr>
              <a:t>项目实战：四步就能进环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82296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F6BFF"/>
                </a:solidFill>
                <a:latin typeface="Arial"/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2468880" cy="254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606040"/>
            <a:ext cx="640080" cy="25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准备原料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2560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docs/prd/00-macro-shared.md
+ modules/M*.md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F6BFF"/>
                </a:solidFill>
                <a:latin typeface="Arial"/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606040"/>
            <a:ext cx="2468880" cy="254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606040"/>
            <a:ext cx="640080" cy="25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8803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挑战定稿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74720"/>
            <a:ext cx="2560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运行 /prd-grill
决策落盘 + 签核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945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F6BFF"/>
                </a:solidFill>
                <a:latin typeface="Arial"/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606040"/>
            <a:ext cx="2468880" cy="254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606040"/>
            <a:ext cx="640080" cy="25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8803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启动编排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74720"/>
            <a:ext cx="2560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运行 /prd-build-loop
自动拆竖切任务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1945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F6BFF"/>
                </a:solidFill>
                <a:latin typeface="Arial"/>
              </a:rPr>
              <a:t>Step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606040"/>
            <a:ext cx="2468880" cy="254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2606040"/>
            <a:ext cx="640080" cy="25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8803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B2B2B"/>
                </a:solidFill>
                <a:latin typeface="Arial"/>
              </a:rPr>
              <a:t>续跑交付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474720"/>
            <a:ext cx="2560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/prd-build-loop continue
直到 checkbox 清零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2064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依赖配套：mattpocock grilling / tdd / handoff 等工程技能，本仓库负责“业务交付编排”。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PRD BUILD LOOP  ·  EXEC BRIEFING  ·  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08  /  BEFORE  → 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058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2B2B2B"/>
                </a:solidFill>
                <a:latin typeface="Arial"/>
              </a:rPr>
              <a:t>对比：从“聊天写代码”到“系统化交付”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82296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5120640" cy="3657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6B6B6B"/>
                </a:solidFill>
                <a:latin typeface="Arial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B2B2B"/>
                </a:solidFill>
                <a:latin typeface="Arial"/>
              </a:rPr>
              <a:t>传统 Agent 用法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</a:rPr>
              <a:t>·  想到哪写到哪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947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</a:rPr>
              <a:t>·  需求缺口靠临场发挥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</a:rPr>
              <a:t>·  任务边界模糊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177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</a:rPr>
              <a:t>·  进度靠聊天记录回忆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03120"/>
            <a:ext cx="5120640" cy="3657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3317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2F6BFF"/>
                </a:solidFill>
                <a:latin typeface="Arial"/>
              </a:rPr>
              <a:t>FUTURE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8892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F6BFF"/>
                </a:solidFill>
                <a:latin typeface="Arial"/>
              </a:rPr>
              <a:t>Skills 编排交付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2B2B2B"/>
                </a:solidFill>
                <a:latin typeface="Arial"/>
              </a:rPr>
              <a:t>·  PRD 先过挑战门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947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2B2B2B"/>
                </a:solidFill>
                <a:latin typeface="Arial"/>
              </a:rPr>
              <a:t>·  竖切任务可追踪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206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2B2B2B"/>
                </a:solidFill>
                <a:latin typeface="Arial"/>
              </a:rPr>
              <a:t>·  单任务 TDD 可回滚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6177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2B2B2B"/>
                </a:solidFill>
                <a:latin typeface="Arial"/>
              </a:rPr>
              <a:t>·  会话预算 + 停止开关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PRD BUILD LOOP  ·  EXEC BRIEFING  ·  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09  /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058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>
                <a:solidFill>
                  <a:srgbClr val="2B2B2B"/>
                </a:solidFill>
                <a:latin typeface="Arial"/>
              </a:rPr>
              <a:t>建设节奏：先稳主链路，再加深管控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82296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017520"/>
            <a:ext cx="10789920" cy="254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907792"/>
            <a:ext cx="256032" cy="25603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F6BFF"/>
                </a:solidFill>
                <a:latin typeface="Arial"/>
              </a:rPr>
              <a:t>P0 已落地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560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主编排 + Grill 门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2907792"/>
            <a:ext cx="256032" cy="256032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F6BFF"/>
                </a:solidFill>
                <a:latin typeface="Arial"/>
              </a:rPr>
              <a:t>P1 建议立即做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83280"/>
            <a:ext cx="2560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独立 Review 闸
任务 blocked/split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907792"/>
            <a:ext cx="256032" cy="256032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14884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B2B2B"/>
                </a:solidFill>
                <a:latin typeface="Arial"/>
              </a:rP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383280"/>
            <a:ext cx="2560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依赖任务图
模块/发布分层 Done</a:t>
            </a:r>
          </a:p>
        </p:txBody>
      </p:sp>
      <p:sp>
        <p:nvSpPr>
          <p:cNvPr id="16" name="Oval 15"/>
          <p:cNvSpPr/>
          <p:nvPr/>
        </p:nvSpPr>
        <p:spPr>
          <a:xfrm>
            <a:off x="9189720" y="2907792"/>
            <a:ext cx="256032" cy="256032"/>
          </a:xfrm>
          <a:prstGeom prst="ellipse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4884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B2B2B"/>
                </a:solidFill>
                <a:latin typeface="Arial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383280"/>
            <a:ext cx="25603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6B6B6B"/>
                </a:solidFill>
                <a:latin typeface="Arial"/>
              </a:rPr>
              <a:t>指标复盘
失败可恢复策略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PRD BUILD LOOP  ·  EXEC BRIEFING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69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39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508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678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847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017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186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356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525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7864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034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0203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373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2542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18712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76169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52339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508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04678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80847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57017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33186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09356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5525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10  /  DECISION 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28016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2B2B2B"/>
                </a:solidFill>
                <a:latin typeface="Arial"/>
              </a:rPr>
              <a:t>请领导确认三件事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2057400"/>
            <a:ext cx="91440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56032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2B2B2B"/>
                </a:solidFill>
                <a:latin typeface="Arial"/>
              </a:rPr>
              <a:t>1. 以本 Skills 体系作为 AI 辅助研发的标准交付操作系统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33756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2B2B2B"/>
                </a:solidFill>
                <a:latin typeface="Arial"/>
              </a:rPr>
              <a:t>2. 新项目强制：PRD 模块化 + /prd-grill 签核后，才允许进实现环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11480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2B2B2B"/>
                </a:solidFill>
                <a:latin typeface="Arial"/>
              </a:rPr>
              <a:t>3. 批准下一阶段：Review 闸与任务状态机（约 1 个小迭代可落地）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</a:rPr>
              <a:t>目标不是替代工程判断，而是让判断发生在正确的关卡。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6172200"/>
            <a:ext cx="502920" cy="25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5806440"/>
            <a:ext cx="254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002975" y="685800"/>
            <a:ext cx="502920" cy="25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505895" y="685800"/>
            <a:ext cx="254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6B6B"/>
                </a:solidFill>
                <a:latin typeface="Arial"/>
              </a:rPr>
              <a:t>PRD BUILD LOOP  ·  EXEC BRIEFING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69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339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508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4678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0847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017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186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356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525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695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7864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034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0203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6373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25425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187120" y="0"/>
            <a:ext cx="9525" cy="6858000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76169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52339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508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04678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80847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57017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33186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093560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855255"/>
            <a:ext cx="12191695" cy="9525"/>
          </a:xfrm>
          <a:prstGeom prst="rect">
            <a:avLst/>
          </a:prstGeom>
          <a:solidFill>
            <a:srgbClr val="E6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1031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2B2B2B"/>
                </a:solidFill>
                <a:latin typeface="Arial"/>
              </a:rPr>
              <a:t>把 AI 关进流程里，
而不是把流程交给运气。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657600"/>
            <a:ext cx="1051560" cy="508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02336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</a:rPr>
              <a:t>prd-build-loop-skills  ·  Cursor Agent  ·  Futuristic Tech Editorial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172200"/>
            <a:ext cx="502920" cy="25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5806440"/>
            <a:ext cx="254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002975" y="685800"/>
            <a:ext cx="502920" cy="254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05895" y="685800"/>
            <a:ext cx="25400" cy="36576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F6BFF"/>
                </a:solidFill>
                <a:latin typeface="Arial"/>
              </a:rPr>
              <a:t>THANK YOU  ·  READY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